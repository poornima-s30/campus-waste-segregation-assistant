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2377440" cy="23774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371600"/>
            <a:ext cx="1371600" cy="1371600"/>
          </a:xfrm>
          <a:prstGeom prst="ellipse">
            <a:avLst/>
          </a:prstGeom>
          <a:solidFill>
            <a:srgbClr val="8FB96B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1737360"/>
            <a:ext cx="914400" cy="914400"/>
          </a:xfrm>
          <a:prstGeom prst="ellipse">
            <a:avLst/>
          </a:prstGeom>
          <a:solidFill>
            <a:srgbClr val="8FB9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WASTE</a:t>
            </a:r>
            <a:endParaRPr lang="en-US" sz="44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SEGREGATION ASSISTANT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FB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Command-Line Project for Smarter Waste Disposal on Campus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4892040"/>
            <a:ext cx="2011680" cy="0"/>
          </a:xfrm>
          <a:prstGeom prst="line">
            <a:avLst/>
          </a:prstGeom>
          <a:noFill/>
          <a:ln w="25400">
            <a:solidFill>
              <a:srgbClr val="8FB9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Poornima Saini</a:t>
            </a:r>
            <a:pPr algn="l" indent="0" marL="0">
              <a:buNone/>
            </a:pPr>
            <a:r>
              <a:rPr lang="en-US" sz="1300" dirty="0">
                <a:solidFill>
                  <a:srgbClr val="8FB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26BAI10438   |   CSE AI&amp;ML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440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Mr Darshan Teja  •  VIT Bhopal University  •  2026–27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waste segregation on college campuses mixes recyclable, organic, electronic, hazardous, and general waste together. Students are often unsure how a specific item should be disposed of — and there's no quick, centralized way to check at the point of disposal.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16052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E7F0D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416052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quick reference, campuses fall back on treating everything as general waste — losing most of its recycling and composting value.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89320" y="1371600"/>
            <a:ext cx="0" cy="4754880"/>
          </a:xfrm>
          <a:prstGeom prst="line">
            <a:avLst/>
          </a:prstGeom>
          <a:noFill/>
          <a:ln w="25400">
            <a:solidFill>
              <a:srgbClr val="E7F0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80" dirty="0"/>
          </a:p>
        </p:txBody>
      </p:sp>
      <p:sp>
        <p:nvSpPr>
          <p:cNvPr id="9" name="Text 7"/>
          <p:cNvSpPr/>
          <p:nvPr/>
        </p:nvSpPr>
        <p:spPr>
          <a:xfrm>
            <a:off x="7178040" y="1417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Waste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78040" y="176479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Recyclables, organics, and hazardous items end up in the same bin.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29718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80" dirty="0"/>
          </a:p>
        </p:txBody>
      </p:sp>
      <p:sp>
        <p:nvSpPr>
          <p:cNvPr id="13" name="Text 11"/>
          <p:cNvSpPr/>
          <p:nvPr/>
        </p:nvSpPr>
        <p:spPr>
          <a:xfrm>
            <a:off x="7178040" y="2880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322783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know which category uncommon items belong to.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443484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80" dirty="0"/>
          </a:p>
        </p:txBody>
      </p:sp>
      <p:sp>
        <p:nvSpPr>
          <p:cNvPr id="17" name="Text 15"/>
          <p:cNvSpPr/>
          <p:nvPr/>
        </p:nvSpPr>
        <p:spPr>
          <a:xfrm>
            <a:off x="7178040" y="4343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78040" y="4690872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track what's being disposed of, or how often.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menu-driven features, all from a single terminal session.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7F0DD"/>
          </a:solidFill>
          <a:ln/>
        </p:spPr>
      </p:sp>
      <p:sp>
        <p:nvSpPr>
          <p:cNvPr id="5" name="Shape 3"/>
          <p:cNvSpPr/>
          <p:nvPr/>
        </p:nvSpPr>
        <p:spPr>
          <a:xfrm>
            <a:off x="754380" y="18516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" y="18516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49808" y="251460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Waste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06324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item's category, bin, and disposal action.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9272" y="16459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7F0DD"/>
          </a:solidFill>
          <a:ln/>
        </p:spPr>
      </p:sp>
      <p:sp>
        <p:nvSpPr>
          <p:cNvPr id="10" name="Shape 8"/>
          <p:cNvSpPr/>
          <p:nvPr/>
        </p:nvSpPr>
        <p:spPr>
          <a:xfrm>
            <a:off x="3525012" y="18516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3525012" y="18516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520440" y="251460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Categories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306324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six categories with example items.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9904" y="16459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7F0DD"/>
          </a:solidFill>
          <a:ln/>
        </p:spPr>
      </p:sp>
      <p:sp>
        <p:nvSpPr>
          <p:cNvPr id="15" name="Shape 13"/>
          <p:cNvSpPr/>
          <p:nvPr/>
        </p:nvSpPr>
        <p:spPr>
          <a:xfrm>
            <a:off x="6295644" y="18516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295644" y="18516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291072" y="251460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Waste Item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306324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case-insensitive keyword search.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60536" y="16459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7F0DD"/>
          </a:solidFill>
          <a:ln/>
        </p:spPr>
      </p:sp>
      <p:sp>
        <p:nvSpPr>
          <p:cNvPr id="20" name="Shape 18"/>
          <p:cNvSpPr/>
          <p:nvPr/>
        </p:nvSpPr>
        <p:spPr>
          <a:xfrm>
            <a:off x="9066276" y="18516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9066276" y="18516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9061704" y="2514600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Disposal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61704" y="306324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dated entry to local JSON storage.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050792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7F0DD"/>
          </a:solidFill>
          <a:ln/>
        </p:spPr>
      </p:sp>
      <p:sp>
        <p:nvSpPr>
          <p:cNvPr id="25" name="Shape 23"/>
          <p:cNvSpPr/>
          <p:nvPr/>
        </p:nvSpPr>
        <p:spPr>
          <a:xfrm>
            <a:off x="754380" y="425653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" y="42565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749808" y="4919472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Statistics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" y="5468112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totals and counts per category.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9272" y="4050792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7F0DD"/>
          </a:solidFill>
          <a:ln/>
        </p:spPr>
      </p:sp>
      <p:sp>
        <p:nvSpPr>
          <p:cNvPr id="30" name="Shape 28"/>
          <p:cNvSpPr/>
          <p:nvPr/>
        </p:nvSpPr>
        <p:spPr>
          <a:xfrm>
            <a:off x="3525012" y="425653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3525012" y="42565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3520440" y="4919472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Tips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20440" y="5468112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waste-reduction guidance.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89904" y="4050792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7F0DD"/>
          </a:solidFill>
          <a:ln/>
        </p:spPr>
      </p:sp>
      <p:sp>
        <p:nvSpPr>
          <p:cNvPr id="35" name="Shape 33"/>
          <p:cNvSpPr/>
          <p:nvPr/>
        </p:nvSpPr>
        <p:spPr>
          <a:xfrm>
            <a:off x="6295644" y="425653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6295644" y="42565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6291072" y="4919472"/>
            <a:ext cx="22037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History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91072" y="5468112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every past disposal record.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Waste Categories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to match any campus's actual bin colors and collection rules.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09728" cy="1965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scraps, peels, leaves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30632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175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ORGANIC COLLECTION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5B7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691640"/>
            <a:ext cx="109728" cy="1965960"/>
          </a:xfrm>
          <a:prstGeom prst="rect">
            <a:avLst/>
          </a:prstGeom>
          <a:solidFill>
            <a:srgbClr val="5B7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874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cardboard, plastics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30632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0175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/ RECYCLING COLLECTION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6E8B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691640"/>
            <a:ext cx="109728" cy="1965960"/>
          </a:xfrm>
          <a:prstGeom prst="rect">
            <a:avLst/>
          </a:prstGeom>
          <a:solidFill>
            <a:srgbClr val="6E8B3D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1874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E-waste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2350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chargers, keyboards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503920" y="2926080"/>
            <a:ext cx="30632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30175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E-WASTE POINT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B5651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931920"/>
            <a:ext cx="109728" cy="196596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1148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45902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Batteries, chemicals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" y="5166360"/>
            <a:ext cx="30632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2578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HAZARDOUS-WASTE CHANNEL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0" y="393192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4A7A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3931920"/>
            <a:ext cx="109728" cy="1965960"/>
          </a:xfrm>
          <a:prstGeom prst="rect">
            <a:avLst/>
          </a:prstGeom>
          <a:solidFill>
            <a:srgbClr val="4A7A96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41148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3440" y="45902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Bottles and jars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63440" y="5166360"/>
            <a:ext cx="30632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52578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COLLECTION POINT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229600" y="393192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5B6B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3931920"/>
            <a:ext cx="109728" cy="1965960"/>
          </a:xfrm>
          <a:prstGeom prst="rect">
            <a:avLst/>
          </a:prstGeom>
          <a:solidFill>
            <a:srgbClr val="5B6B57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1148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03920" y="459028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503920" y="5166360"/>
            <a:ext cx="306324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52578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/ REJECT CHANNEL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modular codebase — one file per responsibility.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07128" y="16916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4907128" y="1691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58488" y="24505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program control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981048" y="2715768"/>
            <a:ext cx="4114800" cy="987552"/>
          </a:xfrm>
          <a:prstGeom prst="line">
            <a:avLst/>
          </a:prstGeom>
          <a:noFill/>
          <a:ln w="19050">
            <a:solidFill>
              <a:srgbClr val="8FB9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3788" y="370332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E7F0DD"/>
          </a:solidFill>
          <a:ln w="12700">
            <a:solidFill>
              <a:srgbClr val="8FB9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3788" y="38130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classifier.py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16940" y="4178808"/>
            <a:ext cx="1728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search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flipH="1">
            <a:off x="4038448" y="2715768"/>
            <a:ext cx="2057400" cy="987552"/>
          </a:xfrm>
          <a:prstGeom prst="line">
            <a:avLst/>
          </a:prstGeom>
          <a:noFill/>
          <a:ln w="19050">
            <a:solidFill>
              <a:srgbClr val="8FB9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1188" y="370332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E7F0DD"/>
          </a:solidFill>
          <a:ln w="12700">
            <a:solidFill>
              <a:srgbClr val="8FB9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1188" y="38130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disposal.py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74340" y="4178808"/>
            <a:ext cx="1728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disposal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95848" y="2715768"/>
            <a:ext cx="0" cy="987552"/>
          </a:xfrm>
          <a:prstGeom prst="line">
            <a:avLst/>
          </a:prstGeom>
          <a:noFill/>
          <a:ln w="19050">
            <a:solidFill>
              <a:srgbClr val="8FB9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58588" y="370332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E7F0DD"/>
          </a:solidFill>
          <a:ln w="12700">
            <a:solidFill>
              <a:srgbClr val="8FB9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8588" y="38130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statistics.py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31740" y="4178808"/>
            <a:ext cx="1728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&amp; analysis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95848" y="2715768"/>
            <a:ext cx="2057400" cy="987552"/>
          </a:xfrm>
          <a:prstGeom prst="line">
            <a:avLst/>
          </a:prstGeom>
          <a:noFill/>
          <a:ln w="19050">
            <a:solidFill>
              <a:srgbClr val="8FB9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5988" y="370332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E7F0DD"/>
          </a:solidFill>
          <a:ln w="12700">
            <a:solidFill>
              <a:srgbClr val="8FB9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5988" y="38130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storage.py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89140" y="4178808"/>
            <a:ext cx="1728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read/write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5848" y="2715768"/>
            <a:ext cx="4114800" cy="987552"/>
          </a:xfrm>
          <a:prstGeom prst="line">
            <a:avLst/>
          </a:prstGeom>
          <a:noFill/>
          <a:ln w="19050">
            <a:solidFill>
              <a:srgbClr val="8FB9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73388" y="370332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E7F0DD"/>
          </a:solidFill>
          <a:ln w="12700">
            <a:solidFill>
              <a:srgbClr val="8FB9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73388" y="38130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tips.py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346540" y="4178808"/>
            <a:ext cx="1728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tips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35528" y="534924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42B16"/>
          </a:solidFill>
          <a:ln/>
        </p:spPr>
      </p:sp>
      <p:sp>
        <p:nvSpPr>
          <p:cNvPr id="28" name="Text 26"/>
          <p:cNvSpPr/>
          <p:nvPr/>
        </p:nvSpPr>
        <p:spPr>
          <a:xfrm>
            <a:off x="3535528" y="53492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8FB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
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B9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waste_items.json   ·   disposal_history.json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95848" y="4663440"/>
            <a:ext cx="0" cy="685800"/>
          </a:xfrm>
          <a:prstGeom prst="line">
            <a:avLst/>
          </a:prstGeom>
          <a:noFill/>
          <a:ln w="19050">
            <a:solidFill>
              <a:srgbClr val="8FB96B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dependencies. Runs anywhere Python 3 runs.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9448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09448" y="18288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46608" y="26974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version required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8368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3398368" y="18288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35528" y="26974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7288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187288" y="18288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24448" y="26974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JSON data files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76208" y="16916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976208" y="18288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13368" y="26974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Concepts Demonstrated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E7F0D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51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4251960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E7F0DD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4251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modules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4251960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E7F0DD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42519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&amp; lists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919472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E7F0DD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9194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4919472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E7F0DD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49194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4919472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E7F0DD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0" y="491947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serialization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586984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E7F0DD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58698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5586984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E7F0DD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558698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processing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35040" y="5586984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E7F0DD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0" y="558698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algorithms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&amp; Verified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below was run manually in a live terminal session.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12648" y="1883664"/>
            <a:ext cx="384048" cy="384048"/>
          </a:xfrm>
          <a:prstGeom prst="ellipse">
            <a:avLst/>
          </a:prstGeom>
          <a:solidFill>
            <a:srgbClr val="8FB96B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883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6" name="Text 4"/>
          <p:cNvSpPr/>
          <p:nvPr/>
        </p:nvSpPr>
        <p:spPr>
          <a:xfrm>
            <a:off x="1143000" y="18105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“banana peel” → Organic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36208" y="1883664"/>
            <a:ext cx="384048" cy="384048"/>
          </a:xfrm>
          <a:prstGeom prst="ellipse">
            <a:avLst/>
          </a:prstGeom>
          <a:solidFill>
            <a:srgbClr val="8FB96B"/>
          </a:solidFill>
          <a:ln/>
        </p:spPr>
      </p:sp>
      <p:sp>
        <p:nvSpPr>
          <p:cNvPr id="9" name="Text 7"/>
          <p:cNvSpPr/>
          <p:nvPr/>
        </p:nvSpPr>
        <p:spPr>
          <a:xfrm>
            <a:off x="6236208" y="1883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10" name="Text 8"/>
          <p:cNvSpPr/>
          <p:nvPr/>
        </p:nvSpPr>
        <p:spPr>
          <a:xfrm>
            <a:off x="6766560" y="18105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variation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“PLASTIC BOTTLE” matches “plastic bottle”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" y="2798064"/>
            <a:ext cx="384048" cy="384048"/>
          </a:xfrm>
          <a:prstGeom prst="ellipse">
            <a:avLst/>
          </a:prstGeom>
          <a:solidFill>
            <a:srgbClr val="8FB96B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14" name="Text 12"/>
          <p:cNvSpPr/>
          <p:nvPr/>
        </p:nvSpPr>
        <p:spPr>
          <a:xfrm>
            <a:off x="1143000" y="27249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063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“old mobile phone” → E-waste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36208" y="2798064"/>
            <a:ext cx="384048" cy="384048"/>
          </a:xfrm>
          <a:prstGeom prst="ellipse">
            <a:avLst/>
          </a:prstGeom>
          <a:solidFill>
            <a:srgbClr val="8FB96B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18" name="Text 16"/>
          <p:cNvSpPr/>
          <p:nvPr/>
        </p:nvSpPr>
        <p:spPr>
          <a:xfrm>
            <a:off x="6766560" y="27249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item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3063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fallback message shown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" y="3712464"/>
            <a:ext cx="384048" cy="384048"/>
          </a:xfrm>
          <a:prstGeom prst="ellipse">
            <a:avLst/>
          </a:prstGeom>
          <a:solidFill>
            <a:srgbClr val="8FB96B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" y="3712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22" name="Text 20"/>
          <p:cNvSpPr/>
          <p:nvPr/>
        </p:nvSpPr>
        <p:spPr>
          <a:xfrm>
            <a:off x="1143000" y="36393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977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prompt, no crash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36208" y="3712464"/>
            <a:ext cx="384048" cy="384048"/>
          </a:xfrm>
          <a:prstGeom prst="ellipse">
            <a:avLst/>
          </a:prstGeom>
          <a:solidFill>
            <a:srgbClr val="8FB96B"/>
          </a:solidFill>
          <a:ln/>
        </p:spPr>
      </p:sp>
      <p:sp>
        <p:nvSpPr>
          <p:cNvPr id="25" name="Text 23"/>
          <p:cNvSpPr/>
          <p:nvPr/>
        </p:nvSpPr>
        <p:spPr>
          <a:xfrm>
            <a:off x="6236208" y="3712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26" name="Text 24"/>
          <p:cNvSpPr/>
          <p:nvPr/>
        </p:nvSpPr>
        <p:spPr>
          <a:xfrm>
            <a:off x="6766560" y="36393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menu choice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3977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“99” → handled gracefully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" y="4626864"/>
            <a:ext cx="384048" cy="384048"/>
          </a:xfrm>
          <a:prstGeom prst="ellipse">
            <a:avLst/>
          </a:prstGeom>
          <a:solidFill>
            <a:srgbClr val="8FB96B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" y="4626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30" name="Text 28"/>
          <p:cNvSpPr/>
          <p:nvPr/>
        </p:nvSpPr>
        <p:spPr>
          <a:xfrm>
            <a:off x="1143000" y="45537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history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4892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saved &amp; displayed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36208" y="4626864"/>
            <a:ext cx="384048" cy="384048"/>
          </a:xfrm>
          <a:prstGeom prst="ellipse">
            <a:avLst/>
          </a:prstGeom>
          <a:solidFill>
            <a:srgbClr val="8FB96B"/>
          </a:solidFill>
          <a:ln/>
        </p:spPr>
      </p:sp>
      <p:sp>
        <p:nvSpPr>
          <p:cNvPr id="33" name="Text 31"/>
          <p:cNvSpPr/>
          <p:nvPr/>
        </p:nvSpPr>
        <p:spPr>
          <a:xfrm>
            <a:off x="6236208" y="4626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8" dirty="0"/>
          </a:p>
        </p:txBody>
      </p:sp>
      <p:sp>
        <p:nvSpPr>
          <p:cNvPr id="34" name="Text 32"/>
          <p:cNvSpPr/>
          <p:nvPr/>
        </p:nvSpPr>
        <p:spPr>
          <a:xfrm>
            <a:off x="6766560" y="45537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66560" y="4892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counts correct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  </a:t>
            </a:r>
            <a:pPr indent="0" marL="0">
              <a:buNone/>
            </a:pPr>
            <a:r>
              <a:rPr lang="en-US" sz="1250" dirty="0">
                <a:solidFill>
                  <a:srgbClr val="E7F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 — including empty input, invalid menu choices, and unrecognized items.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E7F0DD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21945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names &amp; rules must be configured per campus — nothing is universal.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1089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recognizes items in (or close to) its database.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0233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40233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locally; not shared across devices or users.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49377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only — no graphical interface yet.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6002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21945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03720" y="21945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or web-based interface.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29400" y="31089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31089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accounts with cloud storage.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29400" y="40233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40233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to edit the waste database.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9400" y="49377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49377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image-based item recognition.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731520"/>
            <a:ext cx="2194560" cy="21945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Started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it, configure it to your campus, and run it from any terminal.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9601200" cy="1371600"/>
          </a:xfrm>
          <a:prstGeom prst="roundRect">
            <a:avLst>
              <a:gd name="adj" fmla="val 4000"/>
            </a:avLst>
          </a:prstGeom>
          <a:solidFill>
            <a:srgbClr val="0D1F0E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48840"/>
            <a:ext cx="9052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F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https://github.com/YOUR-USERNAME/campus-waste-segregation-assistant.git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F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campus-waste-segregation-assistant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F0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main.py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B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make responsible waste segregation a little easier, one item at a time.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5989320"/>
            <a:ext cx="2011680" cy="0"/>
          </a:xfrm>
          <a:prstGeom prst="line">
            <a:avLst/>
          </a:prstGeom>
          <a:noFill/>
          <a:ln w="25400">
            <a:solidFill>
              <a:srgbClr val="8FB9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Poornima Saini  •  26BAI10438  •  CSE AI&amp;ML  •  VIT Bhopal University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2026-09-25T20:26:25Z</dcterms:created>
  <dcterms:modified xsi:type="dcterms:W3CDTF">2026-09-25T20:26:25Z</dcterms:modified>
</cp:coreProperties>
</file>